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  <p:sldId id="257" r:id="rId3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ng-en-text"/>
          <p:cNvSpPr/>
          <p:nvPr/>
        </p:nvSpPr>
        <p:spPr>
          <a:xfrm>
            <a:off x="200000" y="200000"/>
            <a:ext cx="4272000" cy="2271750"/>
          </a:xfrm>
          <a:prstGeom prst="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txBody>
          <a:bodyPr anchor="t"/>
          <a:lstStyle/>
          <a:p>
            <a:pPr/>
            <a:r>
              <a:rPr lang="en-US" sz="1400">
                <a:solidFill>
                  <a:srgbClr val="000000"/>
                </a:solidFill>
              </a:rPr>
              <a:t>The quick brown fox jumps over the lazy dog. This is a long sentence that should wrap across multiple lines within the shape boundary.</a:t>
            </a:r>
          </a:p>
        </p:txBody>
      </p:sp>
      <p:sp>
        <p:nvSpPr>
          <p:cNvPr id="3" name="narrow-shape"/>
          <p:cNvSpPr/>
          <p:nvPr/>
        </p:nvSpPr>
        <p:spPr>
          <a:xfrm>
            <a:off x="4672000" y="200000"/>
            <a:ext cx="1500000" cy="2271750"/>
          </a:xfrm>
          <a:prstGeom prst="rect">
            <a:avLst/>
          </a:prstGeom>
          <a:solidFill>
            <a:srgbClr val="E8F4FD"/>
          </a:solidFill>
          <a:ln w="12700">
            <a:solidFill>
              <a:srgbClr val="999999"/>
            </a:solidFill>
          </a:ln>
        </p:spPr>
        <p:txBody>
          <a:bodyPr anchor="t"/>
          <a:lstStyle/>
          <a:p>
            <a:pPr/>
            <a:r>
              <a:rPr lang="en-US" sz="1400">
                <a:solidFill>
                  <a:srgbClr val="000000"/>
                </a:solidFill>
              </a:rPr>
              <a:t>Narrow shape forces frequent word wrapping here.</a:t>
            </a:r>
          </a:p>
        </p:txBody>
      </p:sp>
      <p:sp>
        <p:nvSpPr>
          <p:cNvPr id="4" name="no-wrap"/>
          <p:cNvSpPr/>
          <p:nvPr/>
        </p:nvSpPr>
        <p:spPr>
          <a:xfrm>
            <a:off x="200000" y="2671750"/>
            <a:ext cx="4272000" cy="2271750"/>
          </a:xfrm>
          <a:prstGeom prst="rect">
            <a:avLst/>
          </a:prstGeom>
          <a:solidFill>
            <a:srgbClr val="FFF3E0"/>
          </a:solidFill>
          <a:ln w="12700">
            <a:solidFill>
              <a:srgbClr val="999999"/>
            </a:solidFill>
          </a:ln>
        </p:spPr>
        <p:txBody>
          <a:bodyPr anchor="t" wrap="none"/>
          <a:lstStyle/>
          <a:p>
            <a:pPr/>
            <a:r>
              <a:rPr lang="en-US" sz="1400">
                <a:solidFill>
                  <a:srgbClr val="000000"/>
                </a:solidFill>
              </a:rPr>
              <a:t>This text has wrap=none so it should not wrap at the shape boundary.</a:t>
            </a:r>
          </a:p>
        </p:txBody>
      </p:sp>
      <p:sp>
        <p:nvSpPr>
          <p:cNvPr id="5" name="japanese-text"/>
          <p:cNvSpPr/>
          <p:nvPr/>
        </p:nvSpPr>
        <p:spPr>
          <a:xfrm>
            <a:off x="4672000" y="2671750"/>
            <a:ext cx="4272000" cy="2271750"/>
          </a:xfrm>
          <a:prstGeom prst="rect">
            <a:avLst/>
          </a:prstGeom>
          <a:solidFill>
            <a:srgbClr val="F3E5F5"/>
          </a:solidFill>
          <a:ln w="12700">
            <a:solidFill>
              <a:srgbClr val="999999"/>
            </a:solidFill>
          </a:ln>
        </p:spPr>
        <p:txBody>
          <a:bodyPr anchor="t"/>
          <a:lstStyle/>
          <a:p>
            <a:pPr/>
            <a:r>
              <a:rPr lang="ja-JP" sz="1400">
                <a:solidFill>
                  <a:srgbClr val="000000"/>
                </a:solidFill>
              </a:rPr>
              <a:t>日本語のテキストは文字単位で折り返されます。長い文章を図形の中に配置した場合の表示を確認します。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ed-font-sizes"/>
          <p:cNvSpPr/>
          <p:nvPr/>
        </p:nvSpPr>
        <p:spPr>
          <a:xfrm>
            <a:off x="200000" y="200000"/>
            <a:ext cx="4272000" cy="2271750"/>
          </a:xfrm>
          <a:prstGeom prst="rect">
            <a:avLst/>
          </a:prstGeom>
          <a:solidFill>
            <a:srgbClr val="E8F5E9"/>
          </a:solidFill>
          <a:ln w="12700">
            <a:solidFill>
              <a:srgbClr val="999999"/>
            </a:solidFill>
          </a:ln>
        </p:spPr>
        <p:txBody>
          <a:bodyPr anchor="t"/>
          <a:lstStyle/>
          <a:p>
            <a:pPr/>
            <a:r>
              <a:rPr lang="en-US" sz="2800" b="1">
                <a:solidFill>
                  <a:srgbClr val="1565C0"/>
                </a:solidFill>
              </a:rPr>
              <a:t>Large </a:t>
            </a:r>
            <a:r>
              <a:rPr lang="en-US" sz="1200">
                <a:solidFill>
                  <a:srgbClr val="333333"/>
                </a:solidFill>
              </a:rPr>
              <a:t>and small </a:t>
            </a:r>
            <a:r>
              <a:rPr lang="en-US" sz="2000">
                <a:solidFill>
                  <a:srgbClr val="C62828"/>
                </a:solidFill>
              </a:rPr>
              <a:t>mixed </a:t>
            </a:r>
            <a:r>
              <a:rPr lang="en-US" sz="1400">
                <a:solidFill>
                  <a:srgbClr val="333333"/>
                </a:solidFill>
              </a:rPr>
              <a:t>in one paragraph that wraps across lines.</a:t>
            </a:r>
          </a:p>
        </p:txBody>
      </p:sp>
      <p:sp>
        <p:nvSpPr>
          <p:cNvPr id="3" name="multi-paragraph"/>
          <p:cNvSpPr/>
          <p:nvPr/>
        </p:nvSpPr>
        <p:spPr>
          <a:xfrm>
            <a:off x="4672000" y="200000"/>
            <a:ext cx="4272000" cy="2271750"/>
          </a:xfrm>
          <a:prstGeom prst="rect">
            <a:avLst/>
          </a:prstGeom>
          <a:solidFill>
            <a:srgbClr val="FFF8E1"/>
          </a:solidFill>
          <a:ln w="12700">
            <a:solidFill>
              <a:srgbClr val="999999"/>
            </a:solidFill>
          </a:ln>
        </p:spPr>
        <p:txBody>
          <a:bodyPr anchor="t"/>
          <a:lstStyle/>
          <a:p>
            <a:pPr/>
            <a:r>
              <a:rPr lang="en-US" sz="1400">
                <a:solidFill>
                  <a:srgbClr val="000000"/>
                </a:solidFill>
              </a:rPr>
              <a:t>First paragraph with enough text to wrap.</a:t>
            </a:r>
          </a:p>
          <a:p>
            <a:pPr algn="ctr"/>
            <a:r>
              <a:rPr lang="en-US" sz="1400">
                <a:solidFill>
                  <a:srgbClr val="000000"/>
                </a:solidFill>
              </a:rPr>
              <a:t>Second paragraph also wraps within the shape.</a:t>
            </a:r>
          </a:p>
          <a:p>
            <a:pPr algn="r"/>
            <a:r>
              <a:rPr lang="en-US" sz="1400">
                <a:solidFill>
                  <a:srgbClr val="000000"/>
                </a:solidFill>
              </a:rPr>
              <a:t>Third paragraph right-aligned.</a:t>
            </a:r>
          </a:p>
        </p:txBody>
      </p:sp>
      <p:sp>
        <p:nvSpPr>
          <p:cNvPr id="4" name="text-overflow"/>
          <p:cNvSpPr/>
          <p:nvPr/>
        </p:nvSpPr>
        <p:spPr>
          <a:xfrm>
            <a:off x="200000" y="2671750"/>
            <a:ext cx="2000000" cy="800000"/>
          </a:xfrm>
          <a:prstGeom prst="rect">
            <a:avLst/>
          </a:prstGeom>
          <a:solidFill>
            <a:srgbClr val="FFEBEE"/>
          </a:solidFill>
          <a:ln w="12700">
            <a:solidFill>
              <a:srgbClr val="999999"/>
            </a:solidFill>
          </a:ln>
        </p:spPr>
        <p:txBody>
          <a:bodyPr anchor="t"/>
          <a:lstStyle/>
          <a:p>
            <a:pPr/>
            <a:r>
              <a:rPr lang="en-US" sz="1400">
                <a:solidFill>
                  <a:srgbClr val="000000"/>
                </a:solidFill>
              </a:rPr>
              <a:t>This text is too long for the small shape and will overflow beyond the visible area of the shape boundary.</a:t>
            </a:r>
          </a:p>
        </p:txBody>
      </p:sp>
      <p:sp>
        <p:nvSpPr>
          <p:cNvPr id="5" name="mixed-cjk-latin"/>
          <p:cNvSpPr/>
          <p:nvPr/>
        </p:nvSpPr>
        <p:spPr>
          <a:xfrm>
            <a:off x="4672000" y="2671750"/>
            <a:ext cx="4272000" cy="2271750"/>
          </a:xfrm>
          <a:prstGeom prst="rect">
            <a:avLst/>
          </a:prstGeom>
          <a:solidFill>
            <a:srgbClr val="E0F2F1"/>
          </a:solidFill>
          <a:ln w="12700">
            <a:solidFill>
              <a:srgbClr val="999999"/>
            </a:solidFill>
          </a:ln>
        </p:spPr>
        <p:txBody>
          <a:bodyPr anchor="t"/>
          <a:lstStyle/>
          <a:p>
            <a:pPr/>
            <a:r>
              <a:rPr lang="en-US" sz="1400">
                <a:solidFill>
                  <a:srgbClr val="000000"/>
                </a:solidFill>
              </a:rPr>
              <a:t>English and 日本語 mixed text. テキストの折り返しが正しく動作するか確認します。Word wrap test.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