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売上高（億円）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3980</c:v>
                </c:pt>
                <c:pt idx="1">
                  <c:v>4120</c:v>
                </c:pt>
                <c:pt idx="2">
                  <c:v>4285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営業利益（億円）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465</c:v>
                </c:pt>
                <c:pt idx="1">
                  <c:v>488</c:v>
                </c:pt>
                <c:pt idx="2">
                  <c:v>512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営業利益率（%）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11.7</c:v>
                </c:pt>
                <c:pt idx="1">
                  <c:v>11.8</c:v>
                </c:pt>
                <c:pt idx="2">
                  <c:v>11.9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売上総利益率（%）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</c:v>
                </c:pt>
                <c:pt idx="1">
                  <c:v>42.5</c:v>
                </c:pt>
                <c:pt idx="2">
                  <c:v>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純利益率（%）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7.4</c:v>
                </c:pt>
                <c:pt idx="1">
                  <c:v>7.5</c:v>
                </c:pt>
                <c:pt idx="2">
                  <c:v>7.7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前年同期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デジタル</c:v>
                  </c:pt>
                  <c:pt idx="1">
                    <c:v>プラットフォーム</c:v>
                  </c:pt>
                  <c:pt idx="2">
                    <c:v>グローバル</c:v>
                  </c:pt>
                  <c:pt idx="3">
                    <c:v>その他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1599</c:v>
                </c:pt>
                <c:pt idx="1">
                  <c:v>1185</c:v>
                </c:pt>
                <c:pt idx="2">
                  <c:v>663</c:v>
                </c:pt>
                <c:pt idx="3">
                  <c:v>334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当期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デジタル</c:v>
                  </c:pt>
                  <c:pt idx="1">
                    <c:v>プラットフォーム</c:v>
                  </c:pt>
                  <c:pt idx="2">
                    <c:v>グローバル</c:v>
                  </c:pt>
                  <c:pt idx="3">
                    <c:v>その他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1842</c:v>
                </c:pt>
                <c:pt idx="1">
                  <c:v>1285</c:v>
                </c:pt>
                <c:pt idx="2">
                  <c:v>814</c:v>
                </c:pt>
                <c:pt idx="3">
                  <c:v>344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売上構成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デジタルソリューション</c:v>
                </c:pt>
                <c:pt idx="1">
                  <c:v>ビジネスPF</c:v>
                </c:pt>
                <c:pt idx="2">
                  <c:v>グローバル</c:v>
                </c:pt>
                <c:pt idx="3">
                  <c:v>その他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43</c:v>
                </c:pt>
                <c:pt idx="1">
                  <c:v>30</c:v>
                </c:pt>
                <c:pt idx="2">
                  <c:v>19</c:v>
                </c:pt>
                <c:pt idx="3">
                  <c:v>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実績（Q3時点）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売上成長率</c:v>
                  </c:pt>
                  <c:pt idx="1">
                    <c:v>営業利益率</c:v>
                  </c:pt>
                  <c:pt idx="2">
                    <c:v>海外売上比率</c:v>
                  </c:pt>
                  <c:pt idx="3">
                    <c:v>DX投資額</c:v>
                  </c:pt>
                  <c:pt idx="4">
                    <c:v>従業員満足度</c:v>
                  </c:pt>
                  <c:pt idx="5">
                    <c:v>CO2削減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80</c:v>
                </c:pt>
                <c:pt idx="2">
                  <c:v>70</c:v>
                </c:pt>
                <c:pt idx="3">
                  <c:v>90</c:v>
                </c:pt>
                <c:pt idx="4">
                  <c:v>75</c:v>
                </c:pt>
                <c:pt idx="5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目標（FY2027）</c:v>
                </c:pt>
              </c:strCache>
            </c:strRef>
          </c:tx>
          <c:spPr>
            <a:solidFill>
              <a:srgbClr val="94A3B8"/>
            </a:solidFill>
            <a:ln w="254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売上成長率</c:v>
                  </c:pt>
                  <c:pt idx="1">
                    <c:v>営業利益率</c:v>
                  </c:pt>
                  <c:pt idx="2">
                    <c:v>海外売上比率</c:v>
                  </c:pt>
                  <c:pt idx="3">
                    <c:v>DX投資額</c:v>
                  </c:pt>
                  <c:pt idx="4">
                    <c:v>従業員満足度</c:v>
                  </c:pt>
                  <c:pt idx="5">
                    <c:v>CO2削減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704975"/>
            <a:ext cx="762000" cy="571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943100"/>
            <a:ext cx="55626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FINANCIAL RESULTS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2000" y="2362200"/>
            <a:ext cx="5562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2025年度</a:t>
            </a:r>
            <a:endParaRPr lang="en-US" sz="3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第3四半期</a:t>
            </a:r>
            <a:endParaRPr lang="en-US" sz="3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決算サマリー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762000" y="4257675"/>
            <a:ext cx="55626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対象期間：2025年10月1日〜2025年12月31日</a:t>
            </a:r>
            <a:endParaRPr lang="en-US" sz="1125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発表日：2026年1月30日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762000" y="4829175"/>
            <a:ext cx="1905000" cy="9525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5019675"/>
            <a:ext cx="55626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株式会社ネクストビジョン・ホールディングス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5381625"/>
            <a:ext cx="5562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東証プライム（証券コード：9999）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0" y="1162050"/>
            <a:ext cx="4876800" cy="1685925"/>
          </a:xfrm>
          <a:prstGeom prst="roundRect">
            <a:avLst>
              <a:gd name="adj" fmla="val 9806"/>
            </a:avLst>
          </a:prstGeom>
          <a:solidFill>
            <a:srgbClr val="1E3A5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390650"/>
            <a:ext cx="441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HIGHLIGHTS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7086600" y="1666875"/>
            <a:ext cx="571500" cy="190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610475" y="1800225"/>
            <a:ext cx="409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売上高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400925" y="1952625"/>
            <a:ext cx="8286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4,285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67625" y="2314575"/>
            <a:ext cx="285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億円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515225" y="2457450"/>
            <a:ext cx="600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 10.1%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63050" y="1800225"/>
            <a:ext cx="5143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営業利益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9134475" y="1952625"/>
            <a:ext cx="5810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512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277350" y="2314575"/>
            <a:ext cx="285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億円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124950" y="2457450"/>
            <a:ext cx="600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 16.9%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29925" y="1800225"/>
            <a:ext cx="409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純利益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0744200" y="1952625"/>
            <a:ext cx="5715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328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887075" y="2314575"/>
            <a:ext cx="285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億円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734675" y="2457450"/>
            <a:ext cx="590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 18.8%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3000375"/>
            <a:ext cx="4876800" cy="2619375"/>
          </a:xfrm>
          <a:prstGeom prst="roundRect">
            <a:avLst>
              <a:gd name="adj" fmla="val 4062"/>
            </a:avLst>
          </a:prstGeom>
          <a:solidFill>
            <a:srgbClr val="1E3A5F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3228975"/>
            <a:ext cx="441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93C5F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KEY METRICS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7086600" y="3486150"/>
            <a:ext cx="571500" cy="190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7086600" y="3600450"/>
            <a:ext cx="2209800" cy="847725"/>
          </a:xfrm>
          <a:prstGeom prst="roundRect">
            <a:avLst>
              <a:gd name="adj" fmla="val 19391"/>
            </a:avLst>
          </a:prstGeom>
          <a:solidFill>
            <a:srgbClr val="0F2744"/>
          </a:solidFill>
          <a:ln/>
        </p:spPr>
      </p:sp>
      <p:sp>
        <p:nvSpPr>
          <p:cNvPr id="28" name="Text 26"/>
          <p:cNvSpPr/>
          <p:nvPr/>
        </p:nvSpPr>
        <p:spPr>
          <a:xfrm>
            <a:off x="7905750" y="3714750"/>
            <a:ext cx="571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営業利益率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791450" y="3876675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11.9%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915275" y="4210050"/>
            <a:ext cx="5524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+0.6pt YoY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410700" y="3600450"/>
            <a:ext cx="2209800" cy="847725"/>
          </a:xfrm>
          <a:prstGeom prst="roundRect">
            <a:avLst>
              <a:gd name="adj" fmla="val 19391"/>
            </a:avLst>
          </a:prstGeom>
          <a:solidFill>
            <a:srgbClr val="0F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10372725" y="3714750"/>
            <a:ext cx="285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115550" y="3876675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14.2%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239375" y="4210050"/>
            <a:ext cx="5524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+1.1pt YoY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086600" y="4543425"/>
            <a:ext cx="2209800" cy="847725"/>
          </a:xfrm>
          <a:prstGeom prst="roundRect">
            <a:avLst>
              <a:gd name="adj" fmla="val 19391"/>
            </a:avLst>
          </a:prstGeom>
          <a:solidFill>
            <a:srgbClr val="0F2744"/>
          </a:solidFill>
          <a:ln/>
        </p:spPr>
      </p:sp>
      <p:sp>
        <p:nvSpPr>
          <p:cNvPr id="36" name="Text 34"/>
          <p:cNvSpPr/>
          <p:nvPr/>
        </p:nvSpPr>
        <p:spPr>
          <a:xfrm>
            <a:off x="8048625" y="4657725"/>
            <a:ext cx="285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EPS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820025" y="4819650"/>
            <a:ext cx="74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¥186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886700" y="5153025"/>
            <a:ext cx="6096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+19.2% YoY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410700" y="4543425"/>
            <a:ext cx="2209800" cy="847725"/>
          </a:xfrm>
          <a:prstGeom prst="roundRect">
            <a:avLst>
              <a:gd name="adj" fmla="val 19391"/>
            </a:avLst>
          </a:prstGeom>
          <a:solidFill>
            <a:srgbClr val="0F2744"/>
          </a:solidFill>
          <a:ln/>
        </p:spPr>
      </p:sp>
      <p:sp>
        <p:nvSpPr>
          <p:cNvPr id="40" name="Text 38"/>
          <p:cNvSpPr/>
          <p:nvPr/>
        </p:nvSpPr>
        <p:spPr>
          <a:xfrm>
            <a:off x="10277475" y="4657725"/>
            <a:ext cx="4762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配当予想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210800" y="481965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B82F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¥60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229850" y="5153025"/>
            <a:ext cx="571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+10円 増配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858000" y="5762625"/>
            <a:ext cx="4876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※本資料の数値はすべてダミーデータです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00" y="428625"/>
            <a:ext cx="57150" cy="381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38150" y="390525"/>
            <a:ext cx="11487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業績サマリー ― 主要経営指標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38150" y="704850"/>
            <a:ext cx="11487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Q3 FY2025 連結業績（2025年10月〜12月）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266700" y="1104900"/>
            <a:ext cx="5829300" cy="352425"/>
          </a:xfrm>
          <a:prstGeom prst="roundRect">
            <a:avLst>
              <a:gd name="adj" fmla="val 11219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361950" y="1200150"/>
            <a:ext cx="563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連結損益計算書（主要項目）</a:t>
            </a:r>
            <a:endParaRPr lang="en-US" sz="97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6700" y="1562100"/>
          <a:ext cx="5829300" cy="1943100"/>
        </p:xfrm>
        <a:graphic>
          <a:graphicData uri="http://schemas.openxmlformats.org/drawingml/2006/table">
            <a:tbl>
              <a:tblPr/>
              <a:tblGrid>
                <a:gridCol w="1238250"/>
                <a:gridCol w="952500"/>
                <a:gridCol w="952500"/>
                <a:gridCol w="762000"/>
                <a:gridCol w="762000"/>
              </a:tblGrid>
              <a:tr h="3238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当期実績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前年同期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増減額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増減率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売上高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4,285億円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3,892億円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59669"/>
                          </a:solidFill>
                        </a:rPr>
                        <a:t>+393億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+10.1%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売上総利益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1,842億円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1,634億円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59669"/>
                          </a:solidFill>
                        </a:rPr>
                        <a:t>+208億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+12.7%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営業利益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512億円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438億円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59669"/>
                          </a:solidFill>
                        </a:rPr>
                        <a:t>+74億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+16.9%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経常利益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498億円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421億円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59669"/>
                          </a:solidFill>
                        </a:rPr>
                        <a:t>+77億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+18.3%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当期純利益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328億円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276億円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059669"/>
                          </a:solidFill>
                        </a:rPr>
                        <a:t>+52億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+18.8%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66700" y="3629025"/>
            <a:ext cx="5829300" cy="352425"/>
          </a:xfrm>
          <a:prstGeom prst="roundRect">
            <a:avLst>
              <a:gd name="adj" fmla="val 112199"/>
            </a:avLst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361950" y="3724275"/>
            <a:ext cx="563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通期予想に対する進捗率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266700" y="4095750"/>
            <a:ext cx="1924050" cy="771525"/>
          </a:xfrm>
          <a:prstGeom prst="roundRect">
            <a:avLst>
              <a:gd name="adj" fmla="val 234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700" y="4191000"/>
            <a:ext cx="38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売上高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57250" y="4352925"/>
            <a:ext cx="74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76.5%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85825" y="4657725"/>
            <a:ext cx="685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予想 5,600億円</a:t>
            </a:r>
            <a:endParaRPr lang="en-US" sz="675" dirty="0"/>
          </a:p>
        </p:txBody>
      </p:sp>
      <p:sp>
        <p:nvSpPr>
          <p:cNvPr id="14" name="Shape 11"/>
          <p:cNvSpPr/>
          <p:nvPr/>
        </p:nvSpPr>
        <p:spPr>
          <a:xfrm>
            <a:off x="2286000" y="4095750"/>
            <a:ext cx="1924050" cy="771525"/>
          </a:xfrm>
          <a:prstGeom prst="roundRect">
            <a:avLst>
              <a:gd name="adj" fmla="val 234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00375" y="4191000"/>
            <a:ext cx="4762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営業利益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876550" y="4352925"/>
            <a:ext cx="74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78.2%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2943225" y="465772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予想 655億円</a:t>
            </a:r>
            <a:endParaRPr lang="en-US" sz="675" dirty="0"/>
          </a:p>
        </p:txBody>
      </p:sp>
      <p:sp>
        <p:nvSpPr>
          <p:cNvPr id="18" name="Shape 15"/>
          <p:cNvSpPr/>
          <p:nvPr/>
        </p:nvSpPr>
        <p:spPr>
          <a:xfrm>
            <a:off x="4305300" y="4095750"/>
            <a:ext cx="1924050" cy="771525"/>
          </a:xfrm>
          <a:prstGeom prst="roundRect">
            <a:avLst>
              <a:gd name="adj" fmla="val 234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67300" y="4191000"/>
            <a:ext cx="38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純利益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895850" y="4352925"/>
            <a:ext cx="74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77.4%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4962525" y="465772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予想 424億円</a:t>
            </a:r>
            <a:endParaRPr lang="en-US" sz="675" dirty="0"/>
          </a:p>
        </p:txBody>
      </p:sp>
      <p:sp>
        <p:nvSpPr>
          <p:cNvPr id="22" name="Shape 19"/>
          <p:cNvSpPr/>
          <p:nvPr/>
        </p:nvSpPr>
        <p:spPr>
          <a:xfrm>
            <a:off x="6248400" y="1104900"/>
            <a:ext cx="5829300" cy="352425"/>
          </a:xfrm>
          <a:prstGeom prst="roundRect">
            <a:avLst>
              <a:gd name="adj" fmla="val 112199"/>
            </a:avLst>
          </a:prstGeom>
          <a:solidFill>
            <a:srgbClr val="1E293B"/>
          </a:solidFill>
          <a:ln/>
        </p:spPr>
      </p:sp>
      <p:sp>
        <p:nvSpPr>
          <p:cNvPr id="23" name="Text 20"/>
          <p:cNvSpPr/>
          <p:nvPr/>
        </p:nvSpPr>
        <p:spPr>
          <a:xfrm>
            <a:off x="6343650" y="1200150"/>
            <a:ext cx="563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四半期別 売上高・営業利益推移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6248400" y="1571625"/>
            <a:ext cx="5829300" cy="2038350"/>
          </a:xfrm>
          <a:prstGeom prst="roundRect">
            <a:avLst>
              <a:gd name="adj" fmla="val 33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25" name="Chart 0" descr=""/>
          <p:cNvGraphicFramePr/>
          <p:nvPr/>
        </p:nvGraphicFramePr>
        <p:xfrm>
          <a:off x="6362700" y="1685925"/>
          <a:ext cx="4953000" cy="1809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2"/>
          <p:cNvSpPr/>
          <p:nvPr/>
        </p:nvSpPr>
        <p:spPr>
          <a:xfrm>
            <a:off x="6248400" y="3724275"/>
            <a:ext cx="5829300" cy="352425"/>
          </a:xfrm>
          <a:prstGeom prst="roundRect">
            <a:avLst>
              <a:gd name="adj" fmla="val 112199"/>
            </a:avLst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6343650" y="3819525"/>
            <a:ext cx="563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利益率推移（四半期別）</a:t>
            </a:r>
            <a:endParaRPr lang="en-US" sz="975" dirty="0"/>
          </a:p>
        </p:txBody>
      </p:sp>
      <p:sp>
        <p:nvSpPr>
          <p:cNvPr id="28" name="Shape 24"/>
          <p:cNvSpPr/>
          <p:nvPr/>
        </p:nvSpPr>
        <p:spPr>
          <a:xfrm>
            <a:off x="6248400" y="4191000"/>
            <a:ext cx="5829300" cy="1657350"/>
          </a:xfrm>
          <a:prstGeom prst="roundRect">
            <a:avLst>
              <a:gd name="adj" fmla="val 50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29" name="Chart 1" descr=""/>
          <p:cNvGraphicFramePr/>
          <p:nvPr/>
        </p:nvGraphicFramePr>
        <p:xfrm>
          <a:off x="6362700" y="4305300"/>
          <a:ext cx="4953000" cy="1428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Text 25"/>
          <p:cNvSpPr/>
          <p:nvPr/>
        </p:nvSpPr>
        <p:spPr>
          <a:xfrm>
            <a:off x="266700" y="6353175"/>
            <a:ext cx="5829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※数値はすべてダミーデータです</a:t>
            </a:r>
            <a:endParaRPr lang="en-US" sz="675" dirty="0"/>
          </a:p>
        </p:txBody>
      </p:sp>
      <p:sp>
        <p:nvSpPr>
          <p:cNvPr id="31" name="Text 26"/>
          <p:cNvSpPr/>
          <p:nvPr/>
        </p:nvSpPr>
        <p:spPr>
          <a:xfrm>
            <a:off x="6096000" y="6353175"/>
            <a:ext cx="5829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株式会社ネクストビジョン・ホールディングス｜2025年度 Q3 決算サマリー｜P.2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00" y="495300"/>
            <a:ext cx="57150" cy="381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38150" y="457200"/>
            <a:ext cx="114871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セグメント別分析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38150" y="771525"/>
            <a:ext cx="11487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事業セグメント別の業績と構成比</a:t>
            </a:r>
            <a:endParaRPr lang="en-US" sz="8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6700" y="1228725"/>
          <a:ext cx="6419850" cy="1828800"/>
        </p:xfrm>
        <a:graphic>
          <a:graphicData uri="http://schemas.openxmlformats.org/drawingml/2006/table">
            <a:tbl>
              <a:tblPr/>
              <a:tblGrid>
                <a:gridCol w="1143000"/>
                <a:gridCol w="857250"/>
                <a:gridCol w="666750"/>
                <a:gridCol w="857250"/>
                <a:gridCol w="666750"/>
                <a:gridCol w="66675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セグメント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売上高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構成比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営業利益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利益率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デジタルソリューション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1,842億円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563EB"/>
                          </a:solidFill>
                        </a:rPr>
                        <a:t>43.0%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258億円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14.0%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+15.2%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ビジネスプラットフォーム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1,285億円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97706"/>
                          </a:solidFill>
                        </a:rPr>
                        <a:t>30.0%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154億円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12.0%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+8.4%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グローバル事業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814億円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19.0%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73億円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9.0%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+22.8%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その他・調整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344億円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7C3AED"/>
                          </a:solidFill>
                        </a:rPr>
                        <a:t>8.0%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27億円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7.8%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+3.1%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合計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4,285億円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512億円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11.9%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34D399"/>
                          </a:solidFill>
                        </a:rPr>
                        <a:t>+16.9%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66700" y="3171825"/>
            <a:ext cx="6410325" cy="352425"/>
          </a:xfrm>
          <a:prstGeom prst="roundRect">
            <a:avLst>
              <a:gd name="adj" fmla="val 112199"/>
            </a:avLst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361950" y="3267075"/>
            <a:ext cx="6229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セグメント別 売上高前年比較</a:t>
            </a:r>
            <a:endParaRPr lang="en-US" sz="975" dirty="0"/>
          </a:p>
        </p:txBody>
      </p:sp>
      <p:sp>
        <p:nvSpPr>
          <p:cNvPr id="8" name="Shape 5"/>
          <p:cNvSpPr/>
          <p:nvPr/>
        </p:nvSpPr>
        <p:spPr>
          <a:xfrm>
            <a:off x="266700" y="3638550"/>
            <a:ext cx="6410325" cy="1943100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381000" y="3752850"/>
          <a:ext cx="4762500" cy="1714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6829425" y="1228725"/>
            <a:ext cx="5248275" cy="352425"/>
          </a:xfrm>
          <a:prstGeom prst="roundRect">
            <a:avLst>
              <a:gd name="adj" fmla="val 112199"/>
            </a:avLst>
          </a:prstGeom>
          <a:solidFill>
            <a:srgbClr val="1E293B"/>
          </a:solidFill>
          <a:ln/>
        </p:spPr>
      </p:sp>
      <p:sp>
        <p:nvSpPr>
          <p:cNvPr id="11" name="Text 7"/>
          <p:cNvSpPr/>
          <p:nvPr/>
        </p:nvSpPr>
        <p:spPr>
          <a:xfrm>
            <a:off x="6924675" y="1323975"/>
            <a:ext cx="5057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売上構成比</a:t>
            </a:r>
            <a:endParaRPr lang="en-US" sz="975" dirty="0"/>
          </a:p>
        </p:txBody>
      </p:sp>
      <p:sp>
        <p:nvSpPr>
          <p:cNvPr id="12" name="Shape 8"/>
          <p:cNvSpPr/>
          <p:nvPr/>
        </p:nvSpPr>
        <p:spPr>
          <a:xfrm>
            <a:off x="6829425" y="1695450"/>
            <a:ext cx="5248275" cy="213360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3" name="Chart 1" descr=""/>
          <p:cNvGraphicFramePr/>
          <p:nvPr/>
        </p:nvGraphicFramePr>
        <p:xfrm>
          <a:off x="6943725" y="1809750"/>
          <a:ext cx="3619500" cy="190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9"/>
          <p:cNvSpPr/>
          <p:nvPr/>
        </p:nvSpPr>
        <p:spPr>
          <a:xfrm>
            <a:off x="6829425" y="3943350"/>
            <a:ext cx="5248275" cy="1466850"/>
          </a:xfrm>
          <a:prstGeom prst="roundRect">
            <a:avLst>
              <a:gd name="adj" fmla="val 9715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962775" y="4076700"/>
            <a:ext cx="4981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セグメント別トピックス</a:t>
            </a:r>
            <a:endParaRPr lang="en-US" sz="975" dirty="0"/>
          </a:p>
        </p:txBody>
      </p:sp>
      <p:sp>
        <p:nvSpPr>
          <p:cNvPr id="16" name="Text 11"/>
          <p:cNvSpPr/>
          <p:nvPr/>
        </p:nvSpPr>
        <p:spPr>
          <a:xfrm>
            <a:off x="6962775" y="4324350"/>
            <a:ext cx="4981575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デジタルソリューション：AI関連サービスが前年比+42%と急成長。SaaS ARRが280億円を突破</a:t>
            </a:r>
            <a:endParaRPr lang="en-US" sz="75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ビジネスPF：大型案件の受注が好調。官公庁向けDX案件が前年比+35%増</a:t>
            </a:r>
            <a:endParaRPr lang="en-US" sz="75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グローバル：ASEAN地域が+28%成長。シンガポール拠点を中心に6カ国展開を加速</a:t>
            </a:r>
            <a:endParaRPr lang="en-US" sz="750" dirty="0"/>
          </a:p>
          <a:p>
            <a:pPr algn="l" marL="342900" indent="-342900">
              <a:lnSpc>
                <a:spcPct val="170000"/>
              </a:lnSpc>
              <a:buSzPct val="100000"/>
              <a:buChar char="•"/>
            </a:pPr>
            <a:r>
              <a:rPr lang="en-US" sz="75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その他：不採算事業の整理が完了し、利益率が前年比+2.1pt改善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266700" y="6276975"/>
            <a:ext cx="58293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※数値はすべてダミーデータです</a:t>
            </a:r>
            <a:endParaRPr lang="en-US" sz="675" dirty="0"/>
          </a:p>
        </p:txBody>
      </p:sp>
      <p:sp>
        <p:nvSpPr>
          <p:cNvPr id="18" name="Text 13"/>
          <p:cNvSpPr/>
          <p:nvPr/>
        </p:nvSpPr>
        <p:spPr>
          <a:xfrm>
            <a:off x="6096000" y="6276975"/>
            <a:ext cx="58293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株式会社ネクストビジョン・ホールディングス｜2025年度 Q3 決算サマリー｜P.3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700" y="419100"/>
            <a:ext cx="57150" cy="381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38150" y="381000"/>
            <a:ext cx="11487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通期見通しと成長戦略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38150" y="695325"/>
            <a:ext cx="114871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FY2025 通期業績予想および中期経営計画の進捗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266700" y="1085850"/>
            <a:ext cx="5829300" cy="352425"/>
          </a:xfrm>
          <a:prstGeom prst="roundRect">
            <a:avLst>
              <a:gd name="adj" fmla="val 112199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361950" y="1181100"/>
            <a:ext cx="563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通期業績予想（据え置き）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6700" y="1543050"/>
          <a:ext cx="5829300" cy="1619250"/>
        </p:xfrm>
        <a:graphic>
          <a:graphicData uri="http://schemas.openxmlformats.org/drawingml/2006/table">
            <a:tbl>
              <a:tblPr/>
              <a:tblGrid>
                <a:gridCol w="1143000"/>
                <a:gridCol w="1047750"/>
                <a:gridCol w="1047750"/>
                <a:gridCol w="762000"/>
              </a:tblGrid>
              <a:tr h="3238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通期予想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前期実績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売上高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5,600億円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5,120億円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+9.4%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営業利益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655億円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568億円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+15.3%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当期純利益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424億円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362億円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+17.1%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配当金（年間）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</a:rPr>
                        <a:t>60円/株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64748B"/>
                          </a:solidFill>
                        </a:rPr>
                        <a:t>50円/株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59669"/>
                          </a:solidFill>
                        </a:rPr>
                        <a:t>+20.0%</a:t>
                      </a:r>
                      <a:endParaRPr lang="en-US" sz="750" dirty="0"/>
                    </a:p>
                  </a:txBody>
                  <a:tcPr marL="0" marR="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66700" y="3286125"/>
            <a:ext cx="5829300" cy="352425"/>
          </a:xfrm>
          <a:prstGeom prst="roundRect">
            <a:avLst>
              <a:gd name="adj" fmla="val 112199"/>
            </a:avLst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361950" y="3381375"/>
            <a:ext cx="563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中期経営計画 KPI 進捗</a:t>
            </a:r>
            <a:endParaRPr lang="en-US" sz="975" dirty="0"/>
          </a:p>
        </p:txBody>
      </p:sp>
      <p:sp>
        <p:nvSpPr>
          <p:cNvPr id="10" name="Shape 7"/>
          <p:cNvSpPr/>
          <p:nvPr/>
        </p:nvSpPr>
        <p:spPr>
          <a:xfrm>
            <a:off x="266700" y="3752850"/>
            <a:ext cx="5829300" cy="213360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381000" y="3867150"/>
          <a:ext cx="4572000" cy="190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8"/>
          <p:cNvSpPr/>
          <p:nvPr/>
        </p:nvSpPr>
        <p:spPr>
          <a:xfrm>
            <a:off x="6248400" y="1085850"/>
            <a:ext cx="5829300" cy="352425"/>
          </a:xfrm>
          <a:prstGeom prst="roundRect">
            <a:avLst>
              <a:gd name="adj" fmla="val 112199"/>
            </a:avLst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6343650" y="1181100"/>
            <a:ext cx="563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成長戦略ロードマップ</a:t>
            </a:r>
            <a:endParaRPr lang="en-US" sz="975" dirty="0"/>
          </a:p>
        </p:txBody>
      </p:sp>
      <p:sp>
        <p:nvSpPr>
          <p:cNvPr id="14" name="Shape 10"/>
          <p:cNvSpPr/>
          <p:nvPr/>
        </p:nvSpPr>
        <p:spPr>
          <a:xfrm>
            <a:off x="6629400" y="1657350"/>
            <a:ext cx="0" cy="171450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5100" y="154305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2"/>
          <p:cNvSpPr/>
          <p:nvPr/>
        </p:nvSpPr>
        <p:spPr>
          <a:xfrm>
            <a:off x="6896100" y="1504950"/>
            <a:ext cx="952500" cy="1905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Q4 FY2025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96100" y="1619250"/>
            <a:ext cx="50673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基盤強化フェーズ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896100" y="1847850"/>
            <a:ext cx="50673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AI基盤の本格稼働、国内シェア拡大</a:t>
            </a:r>
            <a:endParaRPr lang="en-US" sz="825" dirty="0"/>
          </a:p>
        </p:txBody>
      </p:sp>
      <p:sp>
        <p:nvSpPr>
          <p:cNvPr id="19" name="Shape 15"/>
          <p:cNvSpPr/>
          <p:nvPr/>
        </p:nvSpPr>
        <p:spPr>
          <a:xfrm>
            <a:off x="6515100" y="211455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6"/>
          <p:cNvSpPr/>
          <p:nvPr/>
        </p:nvSpPr>
        <p:spPr>
          <a:xfrm>
            <a:off x="6896100" y="2076450"/>
            <a:ext cx="952500" cy="1905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H1 FY2026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896100" y="2190750"/>
            <a:ext cx="50673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海外展開加速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896100" y="2419350"/>
            <a:ext cx="50673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欧州拠点設立、ASEAN事業の黒字化達成</a:t>
            </a:r>
            <a:endParaRPr lang="en-US" sz="825" dirty="0"/>
          </a:p>
        </p:txBody>
      </p:sp>
      <p:sp>
        <p:nvSpPr>
          <p:cNvPr id="23" name="Shape 19"/>
          <p:cNvSpPr/>
          <p:nvPr/>
        </p:nvSpPr>
        <p:spPr>
          <a:xfrm>
            <a:off x="6515100" y="268605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0"/>
          <p:cNvSpPr/>
          <p:nvPr/>
        </p:nvSpPr>
        <p:spPr>
          <a:xfrm>
            <a:off x="6896100" y="2647950"/>
            <a:ext cx="952500" cy="1905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H2 FY2026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896100" y="2762250"/>
            <a:ext cx="50673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新規事業創出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896100" y="2990850"/>
            <a:ext cx="50673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ヘルスケア・モビリティ領域への参入</a:t>
            </a:r>
            <a:endParaRPr lang="en-US" sz="825" dirty="0"/>
          </a:p>
        </p:txBody>
      </p:sp>
      <p:sp>
        <p:nvSpPr>
          <p:cNvPr id="27" name="Shape 23"/>
          <p:cNvSpPr/>
          <p:nvPr/>
        </p:nvSpPr>
        <p:spPr>
          <a:xfrm>
            <a:off x="6515100" y="3257550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4"/>
          <p:cNvSpPr/>
          <p:nvPr/>
        </p:nvSpPr>
        <p:spPr>
          <a:xfrm>
            <a:off x="6896100" y="3219450"/>
            <a:ext cx="952500" cy="1905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FY2027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896100" y="3333750"/>
            <a:ext cx="50673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中計目標達成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896100" y="3562350"/>
            <a:ext cx="50673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売上高7,000億円、営業利益率15%の達成</a:t>
            </a:r>
            <a:endParaRPr lang="en-US" sz="825" dirty="0"/>
          </a:p>
        </p:txBody>
      </p:sp>
      <p:sp>
        <p:nvSpPr>
          <p:cNvPr id="31" name="Shape 27"/>
          <p:cNvSpPr/>
          <p:nvPr/>
        </p:nvSpPr>
        <p:spPr>
          <a:xfrm>
            <a:off x="6248400" y="3609975"/>
            <a:ext cx="5829300" cy="352425"/>
          </a:xfrm>
          <a:prstGeom prst="roundRect">
            <a:avLst>
              <a:gd name="adj" fmla="val 112199"/>
            </a:avLst>
          </a:prstGeom>
          <a:solidFill>
            <a:srgbClr val="1E293B"/>
          </a:solidFill>
          <a:ln/>
        </p:spPr>
      </p:sp>
      <p:sp>
        <p:nvSpPr>
          <p:cNvPr id="32" name="Text 28"/>
          <p:cNvSpPr/>
          <p:nvPr/>
        </p:nvSpPr>
        <p:spPr>
          <a:xfrm>
            <a:off x="6343650" y="3705225"/>
            <a:ext cx="563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重点投資領域</a:t>
            </a:r>
            <a:endParaRPr lang="en-US" sz="975" dirty="0"/>
          </a:p>
        </p:txBody>
      </p:sp>
      <p:sp>
        <p:nvSpPr>
          <p:cNvPr id="33" name="Shape 29"/>
          <p:cNvSpPr/>
          <p:nvPr/>
        </p:nvSpPr>
        <p:spPr>
          <a:xfrm>
            <a:off x="6248400" y="4076700"/>
            <a:ext cx="1924050" cy="1076325"/>
          </a:xfrm>
          <a:prstGeom prst="roundRect">
            <a:avLst>
              <a:gd name="adj" fmla="val 1503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010400" y="4191000"/>
            <a:ext cx="381000" cy="381000"/>
          </a:xfrm>
          <a:prstGeom prst="ellipse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</a:t>
            </a:r>
            <a:endParaRPr lang="en-US" sz="1350" dirty="0"/>
          </a:p>
        </p:txBody>
      </p:sp>
      <p:sp>
        <p:nvSpPr>
          <p:cNvPr id="35" name="Text 31"/>
          <p:cNvSpPr/>
          <p:nvPr/>
        </p:nvSpPr>
        <p:spPr>
          <a:xfrm>
            <a:off x="6896100" y="4629150"/>
            <a:ext cx="628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AI・データ</a:t>
            </a:r>
            <a:endParaRPr lang="en-US" sz="825" dirty="0"/>
          </a:p>
        </p:txBody>
      </p:sp>
      <p:sp>
        <p:nvSpPr>
          <p:cNvPr id="36" name="Text 32"/>
          <p:cNvSpPr/>
          <p:nvPr/>
        </p:nvSpPr>
        <p:spPr>
          <a:xfrm>
            <a:off x="6858000" y="4819650"/>
            <a:ext cx="7048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投資額 180億円</a:t>
            </a:r>
            <a:endParaRPr lang="en-US" sz="675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生成AI活用基盤</a:t>
            </a:r>
            <a:endParaRPr lang="en-US" sz="675" dirty="0"/>
          </a:p>
        </p:txBody>
      </p:sp>
      <p:sp>
        <p:nvSpPr>
          <p:cNvPr id="37" name="Shape 33"/>
          <p:cNvSpPr/>
          <p:nvPr/>
        </p:nvSpPr>
        <p:spPr>
          <a:xfrm>
            <a:off x="8267700" y="4076700"/>
            <a:ext cx="1924050" cy="1076325"/>
          </a:xfrm>
          <a:prstGeom prst="roundRect">
            <a:avLst>
              <a:gd name="adj" fmla="val 15036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029700" y="4191000"/>
            <a:ext cx="381000" cy="381000"/>
          </a:xfrm>
          <a:prstGeom prst="ellipse">
            <a:avLst/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GL</a:t>
            </a:r>
            <a:endParaRPr lang="en-US" sz="1350" dirty="0"/>
          </a:p>
        </p:txBody>
      </p:sp>
      <p:sp>
        <p:nvSpPr>
          <p:cNvPr id="39" name="Text 35"/>
          <p:cNvSpPr/>
          <p:nvPr/>
        </p:nvSpPr>
        <p:spPr>
          <a:xfrm>
            <a:off x="8915400" y="4629150"/>
            <a:ext cx="6286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グローバル</a:t>
            </a:r>
            <a:endParaRPr lang="en-US" sz="825" dirty="0"/>
          </a:p>
        </p:txBody>
      </p:sp>
      <p:sp>
        <p:nvSpPr>
          <p:cNvPr id="40" name="Text 36"/>
          <p:cNvSpPr/>
          <p:nvPr/>
        </p:nvSpPr>
        <p:spPr>
          <a:xfrm>
            <a:off x="8829675" y="4819650"/>
            <a:ext cx="800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投資額 120億円</a:t>
            </a:r>
            <a:endParaRPr lang="en-US" sz="675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欧州・ASEAN拡大</a:t>
            </a:r>
            <a:endParaRPr lang="en-US" sz="675" dirty="0"/>
          </a:p>
        </p:txBody>
      </p:sp>
      <p:sp>
        <p:nvSpPr>
          <p:cNvPr id="41" name="Shape 37"/>
          <p:cNvSpPr/>
          <p:nvPr/>
        </p:nvSpPr>
        <p:spPr>
          <a:xfrm>
            <a:off x="10287000" y="4076700"/>
            <a:ext cx="1924050" cy="1076325"/>
          </a:xfrm>
          <a:prstGeom prst="roundRect">
            <a:avLst>
              <a:gd name="adj" fmla="val 1503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11049000" y="4191000"/>
            <a:ext cx="381000" cy="381000"/>
          </a:xfrm>
          <a:prstGeom prst="ellipse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9770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HR</a:t>
            </a:r>
            <a:endParaRPr lang="en-US" sz="1350" dirty="0"/>
          </a:p>
        </p:txBody>
      </p:sp>
      <p:sp>
        <p:nvSpPr>
          <p:cNvPr id="43" name="Text 39"/>
          <p:cNvSpPr/>
          <p:nvPr/>
        </p:nvSpPr>
        <p:spPr>
          <a:xfrm>
            <a:off x="10982325" y="4629150"/>
            <a:ext cx="5143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人材育成</a:t>
            </a:r>
            <a:endParaRPr lang="en-US" sz="825" dirty="0"/>
          </a:p>
        </p:txBody>
      </p:sp>
      <p:sp>
        <p:nvSpPr>
          <p:cNvPr id="44" name="Text 40"/>
          <p:cNvSpPr/>
          <p:nvPr/>
        </p:nvSpPr>
        <p:spPr>
          <a:xfrm>
            <a:off x="10820400" y="4819650"/>
            <a:ext cx="857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投資額 60億円</a:t>
            </a:r>
            <a:endParaRPr lang="en-US" sz="675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DX人材3,000名体制</a:t>
            </a:r>
            <a:endParaRPr lang="en-US" sz="675" dirty="0"/>
          </a:p>
        </p:txBody>
      </p:sp>
      <p:sp>
        <p:nvSpPr>
          <p:cNvPr id="45" name="Text 41"/>
          <p:cNvSpPr/>
          <p:nvPr/>
        </p:nvSpPr>
        <p:spPr>
          <a:xfrm>
            <a:off x="266700" y="6362700"/>
            <a:ext cx="5829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※数値はすべてダミーデータです</a:t>
            </a:r>
            <a:endParaRPr lang="en-US" sz="675" dirty="0"/>
          </a:p>
        </p:txBody>
      </p:sp>
      <p:sp>
        <p:nvSpPr>
          <p:cNvPr id="46" name="Text 42"/>
          <p:cNvSpPr/>
          <p:nvPr/>
        </p:nvSpPr>
        <p:spPr>
          <a:xfrm>
            <a:off x="6096000" y="6362700"/>
            <a:ext cx="5829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株式会社ネクストビジョン・ホールディングス｜2025年度 Q3 決算サマリー｜P.4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2026-03-21T13:21:59Z</dcterms:created>
  <dcterms:modified xsi:type="dcterms:W3CDTF">2026-03-21T13:21:59Z</dcterms:modified>
</cp:coreProperties>
</file>